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hRnAuuPYdrV3R/1db1ILsfCBF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E9A77F-DC66-47B4-AE79-0CF0E062A0BD}">
  <a:tblStyle styleId="{29E9A77F-DC66-47B4-AE79-0CF0E062A0BD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4a7e3b98e_2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4a7e3b98e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4a7e3b98e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4a7e3b98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>
            <p:ph type="title"/>
          </p:nvPr>
        </p:nvSpPr>
        <p:spPr>
          <a:xfrm>
            <a:off x="804672" y="457200"/>
            <a:ext cx="1057960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lay"/>
              <a:buNone/>
            </a:pPr>
            <a:r>
              <a:rPr lang="en-MY" sz="3700">
                <a:solidFill>
                  <a:schemeClr val="dk2"/>
                </a:solidFill>
              </a:rPr>
              <a:t>Analyzing Weather parameters and Their Impact on Human Comfort in Toronto in 2020</a:t>
            </a:r>
            <a:endParaRPr sz="3700">
              <a:solidFill>
                <a:schemeClr val="dk2"/>
              </a:solidFill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88" name="Google Shape;88;p1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 flipH="1" rot="10800000">
            <a:off x="0" y="5047906"/>
            <a:ext cx="2412221" cy="1810094"/>
            <a:chOff x="-305" y="-1"/>
            <a:chExt cx="3832880" cy="2876136"/>
          </a:xfrm>
        </p:grpSpPr>
        <p:sp>
          <p:nvSpPr>
            <p:cNvPr id="93" name="Google Shape;93;p1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97" name="Google Shape;97;p1"/>
          <p:cNvGraphicFramePr/>
          <p:nvPr/>
        </p:nvGraphicFramePr>
        <p:xfrm>
          <a:off x="1036320" y="27754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{29E9A77F-DC66-47B4-AE79-0CF0E062A0BD}</a:tableStyleId>
              </a:tblPr>
              <a:tblGrid>
                <a:gridCol w="2017025"/>
                <a:gridCol w="3106975"/>
                <a:gridCol w="4995350"/>
              </a:tblGrid>
              <a:tr h="62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MY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MY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MY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Address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</a:tr>
              <a:tr h="62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1211101582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TEOH KAI LOON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1211101582@student.mmu.edu.my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250" marB="91250" marR="136875" marL="136875"/>
                </a:tc>
              </a:tr>
              <a:tr h="62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1221304973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WONG KAH CHUN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1221304973@student.mmu.edu.my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</a:tr>
              <a:tr h="62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1211101961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CHAI DI SHENG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1211101961@student.mmu.edu.my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</a:tr>
              <a:tr h="62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1221303175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LAM ZI FOONG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1221303175@student.mmu.edu.my</a:t>
                      </a:r>
                      <a:endParaRPr sz="3600" u="none" cap="none" strike="noStrike"/>
                    </a:p>
                  </a:txBody>
                  <a:tcPr marT="91250" marB="91250" marR="136875" marL="13687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>
            <p:ph type="title"/>
          </p:nvPr>
        </p:nvSpPr>
        <p:spPr>
          <a:xfrm>
            <a:off x="804672" y="457200"/>
            <a:ext cx="1057960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MY" sz="4000">
                <a:solidFill>
                  <a:schemeClr val="dk2"/>
                </a:solidFill>
              </a:rPr>
              <a:t>Motivation，Problem</a:t>
            </a:r>
            <a:endParaRPr sz="4000">
              <a:solidFill>
                <a:schemeClr val="dk2"/>
              </a:solidFill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06" name="Google Shape;106;p2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 flipH="1" rot="10800000">
            <a:off x="0" y="5047906"/>
            <a:ext cx="2412221" cy="1810094"/>
            <a:chOff x="-305" y="-1"/>
            <a:chExt cx="3832880" cy="2876136"/>
          </a:xfrm>
        </p:grpSpPr>
        <p:sp>
          <p:nvSpPr>
            <p:cNvPr id="111" name="Google Shape;111;p2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036320" y="2565233"/>
            <a:ext cx="10119359" cy="3522959"/>
            <a:chOff x="0" y="21600"/>
            <a:chExt cx="10119359" cy="3522959"/>
          </a:xfrm>
        </p:grpSpPr>
        <p:sp>
          <p:nvSpPr>
            <p:cNvPr id="116" name="Google Shape;116;p2"/>
            <p:cNvSpPr/>
            <p:nvPr/>
          </p:nvSpPr>
          <p:spPr>
            <a:xfrm>
              <a:off x="0" y="21600"/>
              <a:ext cx="10119359" cy="835379"/>
            </a:xfrm>
            <a:prstGeom prst="roundRect">
              <a:avLst>
                <a:gd fmla="val 16667" name="adj"/>
              </a:avLst>
            </a:prstGeom>
            <a:solidFill>
              <a:srgbClr val="A0289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40780" y="62380"/>
              <a:ext cx="10037799" cy="753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n-MY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Public health &amp; safety: understand risk factors from cold weather (falls) and develop mitigation strategies.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0" y="917460"/>
              <a:ext cx="10119359" cy="835379"/>
            </a:xfrm>
            <a:prstGeom prst="roundRect">
              <a:avLst>
                <a:gd fmla="val 16667" name="adj"/>
              </a:avLst>
            </a:prstGeom>
            <a:solidFill>
              <a:srgbClr val="2A2CA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40780" y="958240"/>
              <a:ext cx="10037799" cy="753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n-MY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Economy: understand impact on retail, hospitality, and transportation for better business planning.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0" y="1813320"/>
              <a:ext cx="10119359" cy="835379"/>
            </a:xfrm>
            <a:prstGeom prst="roundRect">
              <a:avLst>
                <a:gd fmla="val 16667" name="adj"/>
              </a:avLst>
            </a:prstGeom>
            <a:solidFill>
              <a:srgbClr val="2BA49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40780" y="1854100"/>
              <a:ext cx="10037799" cy="753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n-MY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Urban planning &amp; infrastructure: predict comfort impact to improve building design, public areas, and infrastructure.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0" y="2709180"/>
              <a:ext cx="10119359" cy="835379"/>
            </a:xfrm>
            <a:prstGeom prst="roundRect">
              <a:avLst>
                <a:gd fmla="val 16667" name="adj"/>
              </a:avLst>
            </a:prstGeom>
            <a:solidFill>
              <a:srgbClr val="4CA62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40780" y="2749960"/>
              <a:ext cx="10037799" cy="753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n-MY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Comfort &amp; quality of life: gain insights on weather's influence and improve well-being through informed decisions (clothing, location, activities). 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4a7e3b98e_2_38"/>
          <p:cNvSpPr txBox="1"/>
          <p:nvPr>
            <p:ph type="title"/>
          </p:nvPr>
        </p:nvSpPr>
        <p:spPr>
          <a:xfrm>
            <a:off x="838200" y="662600"/>
            <a:ext cx="10515600" cy="47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900"/>
              <a:t>Impact on the proposed </a:t>
            </a:r>
            <a:r>
              <a:rPr lang="en-MY" sz="2900"/>
              <a:t>problem</a:t>
            </a:r>
            <a:r>
              <a:rPr lang="en-MY" sz="2900"/>
              <a:t> to society and communities</a:t>
            </a:r>
            <a:endParaRPr sz="2900"/>
          </a:p>
        </p:txBody>
      </p:sp>
      <p:pic>
        <p:nvPicPr>
          <p:cNvPr id="129" name="Google Shape;129;g274a7e3b98e_2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363" y="1957675"/>
            <a:ext cx="1180900" cy="11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274a7e3b98e_2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7387" y="1957663"/>
            <a:ext cx="2198475" cy="11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74a7e3b98e_2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3500" y="4220822"/>
            <a:ext cx="1324048" cy="11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74a7e3b98e_2_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5363" y="3962181"/>
            <a:ext cx="2198475" cy="17016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g274a7e3b98e_2_38"/>
          <p:cNvCxnSpPr/>
          <p:nvPr/>
        </p:nvCxnSpPr>
        <p:spPr>
          <a:xfrm rot="10800000">
            <a:off x="3228513" y="2549837"/>
            <a:ext cx="8319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g274a7e3b98e_2_38"/>
          <p:cNvCxnSpPr/>
          <p:nvPr/>
        </p:nvCxnSpPr>
        <p:spPr>
          <a:xfrm>
            <a:off x="8437850" y="2549837"/>
            <a:ext cx="7035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g274a7e3b98e_2_38"/>
          <p:cNvCxnSpPr/>
          <p:nvPr/>
        </p:nvCxnSpPr>
        <p:spPr>
          <a:xfrm rot="10800000">
            <a:off x="2847800" y="4869300"/>
            <a:ext cx="8319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g274a7e3b98e_2_38"/>
          <p:cNvCxnSpPr/>
          <p:nvPr/>
        </p:nvCxnSpPr>
        <p:spPr>
          <a:xfrm>
            <a:off x="8430350" y="4869300"/>
            <a:ext cx="7185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g274a7e3b98e_2_38"/>
          <p:cNvSpPr txBox="1"/>
          <p:nvPr/>
        </p:nvSpPr>
        <p:spPr>
          <a:xfrm>
            <a:off x="9302000" y="2055138"/>
            <a:ext cx="25419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MY" sz="1700">
                <a:solidFill>
                  <a:schemeClr val="dk1"/>
                </a:solidFill>
              </a:rPr>
              <a:t>Bad weather lead to transportation cannot be travel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8" name="Google Shape;138;g274a7e3b98e_2_38"/>
          <p:cNvSpPr txBox="1"/>
          <p:nvPr/>
        </p:nvSpPr>
        <p:spPr>
          <a:xfrm>
            <a:off x="588400" y="4432425"/>
            <a:ext cx="25419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MY" sz="1700">
                <a:solidFill>
                  <a:schemeClr val="dk1"/>
                </a:solidFill>
              </a:rPr>
              <a:t>C</a:t>
            </a:r>
            <a:r>
              <a:rPr lang="en-MY" sz="1700">
                <a:solidFill>
                  <a:schemeClr val="dk1"/>
                </a:solidFill>
              </a:rPr>
              <a:t>onverting nature’s energy into resources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9" name="Google Shape;139;g274a7e3b98e_2_38"/>
          <p:cNvSpPr txBox="1"/>
          <p:nvPr/>
        </p:nvSpPr>
        <p:spPr>
          <a:xfrm>
            <a:off x="686613" y="1891025"/>
            <a:ext cx="25419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MY" sz="1700">
                <a:solidFill>
                  <a:schemeClr val="dk1"/>
                </a:solidFill>
              </a:rPr>
              <a:t>Farming and crops is guaranteed, and the efforts of farmers are no int vain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0" name="Google Shape;140;g274a7e3b98e_2_38"/>
          <p:cNvSpPr txBox="1"/>
          <p:nvPr/>
        </p:nvSpPr>
        <p:spPr>
          <a:xfrm>
            <a:off x="9302000" y="4374600"/>
            <a:ext cx="25419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MY" sz="1700">
                <a:solidFill>
                  <a:schemeClr val="dk1"/>
                </a:solidFill>
              </a:rPr>
              <a:t>D</a:t>
            </a:r>
            <a:r>
              <a:rPr lang="en-MY" sz="1700">
                <a:solidFill>
                  <a:schemeClr val="dk1"/>
                </a:solidFill>
              </a:rPr>
              <a:t>aily activity of people such as student and office will be affected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1" name="Google Shape;141;g274a7e3b98e_2_38"/>
          <p:cNvSpPr txBox="1"/>
          <p:nvPr/>
        </p:nvSpPr>
        <p:spPr>
          <a:xfrm>
            <a:off x="4028288" y="3142000"/>
            <a:ext cx="181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300">
                <a:solidFill>
                  <a:schemeClr val="dk1"/>
                </a:solidFill>
              </a:rPr>
              <a:t>Agriculture aspect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42" name="Google Shape;142;g274a7e3b98e_2_38"/>
          <p:cNvSpPr txBox="1"/>
          <p:nvPr/>
        </p:nvSpPr>
        <p:spPr>
          <a:xfrm>
            <a:off x="6129525" y="3142000"/>
            <a:ext cx="195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300">
                <a:solidFill>
                  <a:schemeClr val="dk1"/>
                </a:solidFill>
              </a:rPr>
              <a:t>Transportation Issue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43" name="Google Shape;143;g274a7e3b98e_2_38"/>
          <p:cNvSpPr txBox="1"/>
          <p:nvPr/>
        </p:nvSpPr>
        <p:spPr>
          <a:xfrm>
            <a:off x="4404788" y="5663800"/>
            <a:ext cx="143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300">
                <a:solidFill>
                  <a:schemeClr val="dk1"/>
                </a:solidFill>
              </a:rPr>
              <a:t>Energy Source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44" name="Google Shape;144;g274a7e3b98e_2_38"/>
          <p:cNvSpPr txBox="1"/>
          <p:nvPr/>
        </p:nvSpPr>
        <p:spPr>
          <a:xfrm>
            <a:off x="6393275" y="5663800"/>
            <a:ext cx="181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300">
                <a:solidFill>
                  <a:schemeClr val="dk1"/>
                </a:solidFill>
              </a:rPr>
              <a:t>Daily </a:t>
            </a:r>
            <a:r>
              <a:rPr b="1" lang="en-MY" sz="1300">
                <a:solidFill>
                  <a:schemeClr val="dk1"/>
                </a:solidFill>
              </a:rPr>
              <a:t>Inconvenience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MY"/>
              <a:t>Question</a:t>
            </a:r>
            <a:endParaRPr/>
          </a:p>
        </p:txBody>
      </p:sp>
      <p:grpSp>
        <p:nvGrpSpPr>
          <p:cNvPr id="150" name="Google Shape;150;p3"/>
          <p:cNvGrpSpPr/>
          <p:nvPr/>
        </p:nvGrpSpPr>
        <p:grpSpPr>
          <a:xfrm>
            <a:off x="1050535" y="2295515"/>
            <a:ext cx="10090929" cy="3411557"/>
            <a:chOff x="212335" y="469890"/>
            <a:chExt cx="10090929" cy="3411557"/>
          </a:xfrm>
        </p:grpSpPr>
        <p:sp>
          <p:nvSpPr>
            <p:cNvPr id="151" name="Google Shape;151;p3"/>
            <p:cNvSpPr/>
            <p:nvPr/>
          </p:nvSpPr>
          <p:spPr>
            <a:xfrm>
              <a:off x="212335" y="469890"/>
              <a:ext cx="1335915" cy="1335915"/>
            </a:xfrm>
            <a:prstGeom prst="ellipse">
              <a:avLst/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92877" y="750432"/>
              <a:ext cx="774830" cy="77483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834517" y="469890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 txBox="1"/>
            <p:nvPr/>
          </p:nvSpPr>
          <p:spPr>
            <a:xfrm>
              <a:off x="1834517" y="469890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MY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Question 1: How do temperature and relative humidity vary on a </a:t>
              </a:r>
              <a:r>
                <a:rPr lang="en-MY" sz="1700">
                  <a:solidFill>
                    <a:schemeClr val="dk1"/>
                  </a:solidFill>
                </a:rPr>
                <a:t>month</a:t>
              </a:r>
              <a:r>
                <a:rPr b="0" i="0" lang="en-MY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ly basis throughout 2020?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532139" y="469890"/>
              <a:ext cx="1335915" cy="1335915"/>
            </a:xfrm>
            <a:prstGeom prst="ellipse">
              <a:avLst/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812681" y="750432"/>
              <a:ext cx="774830" cy="77483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7154322" y="469890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 txBox="1"/>
            <p:nvPr/>
          </p:nvSpPr>
          <p:spPr>
            <a:xfrm>
              <a:off x="7154322" y="469890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MY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Question 2: How does wind speed vary on a </a:t>
              </a:r>
              <a:r>
                <a:rPr lang="en-MY" sz="1700">
                  <a:solidFill>
                    <a:schemeClr val="dk1"/>
                  </a:solidFill>
                </a:rPr>
                <a:t>month</a:t>
              </a:r>
              <a:r>
                <a:rPr b="0" i="0" lang="en-MY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ly basis throughout 2020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212335" y="2545532"/>
              <a:ext cx="1335915" cy="1335915"/>
            </a:xfrm>
            <a:prstGeom prst="ellipse">
              <a:avLst/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92877" y="2826074"/>
              <a:ext cx="774830" cy="77483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834517" y="2545532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 txBox="1"/>
            <p:nvPr/>
          </p:nvSpPr>
          <p:spPr>
            <a:xfrm>
              <a:off x="1834517" y="2545532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MY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Question 3: Is there a discernible relationship between humidity levels and visibility in Toronto City Centre during 2020? 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532139" y="2545532"/>
              <a:ext cx="1335915" cy="1335915"/>
            </a:xfrm>
            <a:prstGeom prst="ellipse">
              <a:avLst/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812681" y="2826074"/>
              <a:ext cx="774830" cy="77483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7154322" y="2545532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 txBox="1"/>
            <p:nvPr/>
          </p:nvSpPr>
          <p:spPr>
            <a:xfrm>
              <a:off x="7154322" y="2545532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MY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Question 4: What is the relationship between temperature and dew point in</a:t>
              </a:r>
              <a:r>
                <a:rPr lang="en-MY" sz="1700">
                  <a:solidFill>
                    <a:schemeClr val="dk1"/>
                  </a:solidFill>
                </a:rPr>
                <a:t> </a:t>
              </a:r>
              <a:r>
                <a:rPr b="0" i="0" lang="en-MY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2020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58395" y="608243"/>
            <a:ext cx="3380205" cy="5445075"/>
          </a:xfrm>
          <a:prstGeom prst="rect">
            <a:avLst/>
          </a:prstGeom>
          <a:solidFill>
            <a:srgbClr val="0613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>
            <p:ph type="title"/>
          </p:nvPr>
        </p:nvSpPr>
        <p:spPr>
          <a:xfrm>
            <a:off x="1316791" y="1005303"/>
            <a:ext cx="2032490" cy="4427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lang="en-MY" sz="2800">
                <a:solidFill>
                  <a:schemeClr val="lt1"/>
                </a:solidFill>
              </a:rPr>
              <a:t>Data Collection</a:t>
            </a:r>
            <a:endParaRPr/>
          </a:p>
        </p:txBody>
      </p:sp>
      <p:sp>
        <p:nvSpPr>
          <p:cNvPr id="174" name="Google Shape;174;p4"/>
          <p:cNvSpPr txBox="1"/>
          <p:nvPr>
            <p:ph idx="1" type="body"/>
          </p:nvPr>
        </p:nvSpPr>
        <p:spPr>
          <a:xfrm>
            <a:off x="5336498" y="1288934"/>
            <a:ext cx="5801194" cy="4280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b="0" i="0" lang="en-MY" sz="1900" u="none" strike="noStrike">
                <a:latin typeface="Arial"/>
                <a:ea typeface="Arial"/>
                <a:cs typeface="Arial"/>
                <a:sym typeface="Arial"/>
              </a:rPr>
              <a:t>Toronto City Centre Hourly Weather Data 2020 by Jason Ho from Kaggle community.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MY" sz="1900">
                <a:latin typeface="Arial"/>
                <a:ea typeface="Arial"/>
                <a:cs typeface="Arial"/>
                <a:sym typeface="Arial"/>
              </a:rPr>
              <a:t>Data include: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MY" sz="1900" u="none" strike="noStrike">
                <a:latin typeface="Arial"/>
                <a:ea typeface="Arial"/>
                <a:cs typeface="Arial"/>
                <a:sym typeface="Arial"/>
              </a:rPr>
              <a:t>station location information (longitude, latitude and station name)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MY" sz="1900" u="none" strike="noStrike">
                <a:latin typeface="Arial"/>
                <a:ea typeface="Arial"/>
                <a:cs typeface="Arial"/>
                <a:sym typeface="Arial"/>
              </a:rPr>
              <a:t>date and time information (year, month, day, time)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MY" sz="1900" u="none" strike="noStrike">
                <a:latin typeface="Arial"/>
                <a:ea typeface="Arial"/>
                <a:cs typeface="Arial"/>
                <a:sym typeface="Arial"/>
              </a:rPr>
              <a:t>weather elements (temperature, dew point temperature, relative humidity, wind direction, wind speed, visibility, station pressure)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MY" sz="1900" u="none" strike="noStrike">
                <a:latin typeface="Arial"/>
                <a:ea typeface="Arial"/>
                <a:cs typeface="Arial"/>
                <a:sym typeface="Arial"/>
              </a:rPr>
              <a:t>derived weather indexes ( humidex and wind chill)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❑"/>
            </a:pPr>
            <a:r>
              <a:rPr b="0" i="0" lang="en-MY" sz="1900" u="none" strike="noStrike">
                <a:latin typeface="Arial"/>
                <a:ea typeface="Arial"/>
                <a:cs typeface="Arial"/>
                <a:sym typeface="Arial"/>
              </a:rPr>
              <a:t>For each weather element, there is also a flag to indicate unique events.</a:t>
            </a:r>
            <a:r>
              <a:rPr lang="en-MY" sz="1900">
                <a:latin typeface="Arial"/>
                <a:ea typeface="Arial"/>
                <a:cs typeface="Arial"/>
                <a:sym typeface="Arial"/>
              </a:rPr>
              <a:t>	</a:t>
            </a:r>
            <a:endParaRPr sz="1900"/>
          </a:p>
        </p:txBody>
      </p:sp>
      <p:sp>
        <p:nvSpPr>
          <p:cNvPr id="175" name="Google Shape;175;p4"/>
          <p:cNvSpPr/>
          <p:nvPr/>
        </p:nvSpPr>
        <p:spPr>
          <a:xfrm>
            <a:off x="0" y="6053319"/>
            <a:ext cx="12192000" cy="64008"/>
          </a:xfrm>
          <a:prstGeom prst="rect">
            <a:avLst/>
          </a:prstGeom>
          <a:solidFill>
            <a:srgbClr val="0613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 rot="5400000">
            <a:off x="-2770606" y="3396997"/>
            <a:ext cx="6858002" cy="64008"/>
          </a:xfrm>
          <a:prstGeom prst="rect">
            <a:avLst/>
          </a:prstGeom>
          <a:solidFill>
            <a:srgbClr val="0613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0" y="544236"/>
            <a:ext cx="12192000" cy="64008"/>
          </a:xfrm>
          <a:prstGeom prst="rect">
            <a:avLst/>
          </a:prstGeom>
          <a:solidFill>
            <a:srgbClr val="0613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>
            <p:ph type="title"/>
          </p:nvPr>
        </p:nvSpPr>
        <p:spPr>
          <a:xfrm>
            <a:off x="6094105" y="802955"/>
            <a:ext cx="4977976" cy="145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en-MY" sz="3600">
                <a:solidFill>
                  <a:schemeClr val="dk2"/>
                </a:solidFill>
              </a:rPr>
              <a:t>Data Preprocessing</a:t>
            </a:r>
            <a:endParaRPr/>
          </a:p>
        </p:txBody>
      </p:sp>
      <p:pic>
        <p:nvPicPr>
          <p:cNvPr descr="Table"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951" y="1793846"/>
            <a:ext cx="3620021" cy="362002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>
            <p:ph idx="1" type="body"/>
          </p:nvPr>
        </p:nvSpPr>
        <p:spPr>
          <a:xfrm>
            <a:off x="6094101" y="2257000"/>
            <a:ext cx="5826000" cy="3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1206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220503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1" lang="en-MY" sz="1700">
                <a:solidFill>
                  <a:schemeClr val="dk2"/>
                </a:solidFill>
              </a:rPr>
              <a:t>Data Cleaning</a:t>
            </a:r>
            <a:endParaRPr sz="1700">
              <a:solidFill>
                <a:schemeClr val="dk2"/>
              </a:solidFill>
            </a:endParaRPr>
          </a:p>
          <a:p>
            <a:pPr indent="-277653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MY" sz="1700">
                <a:solidFill>
                  <a:schemeClr val="dk2"/>
                </a:solidFill>
              </a:rPr>
              <a:t>Drop columns with high missing values</a:t>
            </a:r>
            <a:endParaRPr/>
          </a:p>
          <a:p>
            <a:pPr indent="-277653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MY" sz="1700">
                <a:solidFill>
                  <a:schemeClr val="dk2"/>
                </a:solidFill>
              </a:rPr>
              <a:t>Impute missing values in numeric columns (Wind Direction,Temperature, Dew Point Temperature, Relative Humidity, Wind Speed, Visibility, Station Atmospheric Pressure) using monthly mean</a:t>
            </a:r>
            <a:endParaRPr/>
          </a:p>
          <a:p>
            <a:pPr indent="-277653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MY" sz="1700">
                <a:solidFill>
                  <a:schemeClr val="dk2"/>
                </a:solidFill>
              </a:rPr>
              <a:t>Remove irrelevant features</a:t>
            </a:r>
            <a:endParaRPr/>
          </a:p>
          <a:p>
            <a:pPr indent="-220503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1" lang="en-MY" sz="1700">
                <a:solidFill>
                  <a:schemeClr val="dk2"/>
                </a:solidFill>
              </a:rPr>
              <a:t>Data Transformation</a:t>
            </a:r>
            <a:endParaRPr sz="1700">
              <a:solidFill>
                <a:schemeClr val="dk2"/>
              </a:solidFill>
            </a:endParaRPr>
          </a:p>
          <a:p>
            <a:pPr indent="-277653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MY" sz="1700">
                <a:solidFill>
                  <a:schemeClr val="dk2"/>
                </a:solidFill>
              </a:rPr>
              <a:t>Encode categorical data (time strings) using label encoding</a:t>
            </a:r>
            <a:endParaRPr/>
          </a:p>
          <a:p>
            <a:pPr indent="-220503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1" lang="en-MY" sz="1700">
                <a:solidFill>
                  <a:schemeClr val="dk2"/>
                </a:solidFill>
              </a:rPr>
              <a:t>Data Splitting</a:t>
            </a:r>
            <a:endParaRPr sz="1700">
              <a:solidFill>
                <a:schemeClr val="dk2"/>
              </a:solidFill>
            </a:endParaRPr>
          </a:p>
          <a:p>
            <a:pPr indent="-277653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-MY" sz="1700">
                <a:solidFill>
                  <a:schemeClr val="dk2"/>
                </a:solidFill>
              </a:rPr>
              <a:t>Divide data into training and testing sets for model building and evaluation</a:t>
            </a:r>
            <a:endParaRPr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grpSp>
        <p:nvGrpSpPr>
          <p:cNvPr id="187" name="Google Shape;187;p5"/>
          <p:cNvGrpSpPr/>
          <p:nvPr/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</p:grpSpPr>
        <p:sp>
          <p:nvSpPr>
            <p:cNvPr id="188" name="Google Shape;188;p5"/>
            <p:cNvSpPr/>
            <p:nvPr/>
          </p:nvSpPr>
          <p:spPr>
            <a:xfrm>
              <a:off x="6096001" y="52996"/>
              <a:ext cx="6093361" cy="6805003"/>
            </a:xfrm>
            <a:custGeom>
              <a:rect b="b" l="l" r="r" t="t"/>
              <a:pathLst>
                <a:path extrusionOk="0" h="6578438" w="5890489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6095999" y="52997"/>
              <a:ext cx="6093363" cy="6805004"/>
            </a:xfrm>
            <a:custGeom>
              <a:rect b="b" l="l" r="r" t="t"/>
              <a:pathLst>
                <a:path extrusionOk="0" h="6578439" w="5890491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096000" y="52997"/>
              <a:ext cx="6093362" cy="6805004"/>
            </a:xfrm>
            <a:custGeom>
              <a:rect b="b" l="l" r="r" t="t"/>
              <a:pathLst>
                <a:path extrusionOk="0" h="6578439" w="5890490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type="title"/>
          </p:nvPr>
        </p:nvSpPr>
        <p:spPr>
          <a:xfrm>
            <a:off x="780200" y="606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MY"/>
              <a:t>Data Exploration</a:t>
            </a:r>
            <a:endParaRPr/>
          </a:p>
        </p:txBody>
      </p:sp>
      <p:pic>
        <p:nvPicPr>
          <p:cNvPr id="196" name="Google Shape;19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75" y="1071150"/>
            <a:ext cx="3627350" cy="2881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6350" y="814400"/>
            <a:ext cx="3627350" cy="28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377" y="4052225"/>
            <a:ext cx="3533225" cy="279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3387" y="3788825"/>
            <a:ext cx="3873275" cy="30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MY"/>
              <a:t>Data Mining</a:t>
            </a:r>
            <a:endParaRPr/>
          </a:p>
        </p:txBody>
      </p:sp>
      <p:pic>
        <p:nvPicPr>
          <p:cNvPr id="205" name="Google Shape;20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75" y="1556613"/>
            <a:ext cx="37052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350" y="580300"/>
            <a:ext cx="3539483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0825" y="580300"/>
            <a:ext cx="3476625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3900" y="3878950"/>
            <a:ext cx="3396925" cy="303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7"/>
          <p:cNvPicPr preferRelativeResize="0"/>
          <p:nvPr/>
        </p:nvPicPr>
        <p:blipFill rotWithShape="1">
          <a:blip r:embed="rId7">
            <a:alphaModFix/>
          </a:blip>
          <a:srcRect b="0" l="0" r="-4580" t="0"/>
          <a:stretch/>
        </p:blipFill>
        <p:spPr>
          <a:xfrm>
            <a:off x="8146675" y="3878950"/>
            <a:ext cx="3476625" cy="29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9000" y="3226850"/>
            <a:ext cx="3829850" cy="3385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4a7e3b98e_2_0"/>
          <p:cNvSpPr/>
          <p:nvPr/>
        </p:nvSpPr>
        <p:spPr>
          <a:xfrm>
            <a:off x="8470338" y="1896112"/>
            <a:ext cx="3268566" cy="4511808"/>
          </a:xfrm>
          <a:prstGeom prst="flowChartTerminator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274a7e3b98e_2_0"/>
          <p:cNvSpPr txBox="1"/>
          <p:nvPr>
            <p:ph type="title"/>
          </p:nvPr>
        </p:nvSpPr>
        <p:spPr>
          <a:xfrm>
            <a:off x="838188" y="221488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Challenge and Limitation encounter</a:t>
            </a:r>
            <a:endParaRPr/>
          </a:p>
        </p:txBody>
      </p:sp>
      <p:pic>
        <p:nvPicPr>
          <p:cNvPr id="217" name="Google Shape;217;g274a7e3b98e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6688" y="2105663"/>
            <a:ext cx="975878" cy="11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274a7e3b98e_2_0"/>
          <p:cNvSpPr/>
          <p:nvPr/>
        </p:nvSpPr>
        <p:spPr>
          <a:xfrm>
            <a:off x="453075" y="1775800"/>
            <a:ext cx="3268566" cy="4511808"/>
          </a:xfrm>
          <a:prstGeom prst="flowChartTerminator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g274a7e3b98e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7549" y="1965288"/>
            <a:ext cx="1179175" cy="11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274a7e3b98e_2_0"/>
          <p:cNvSpPr/>
          <p:nvPr/>
        </p:nvSpPr>
        <p:spPr>
          <a:xfrm>
            <a:off x="4461713" y="1896112"/>
            <a:ext cx="3268566" cy="4511808"/>
          </a:xfrm>
          <a:prstGeom prst="flowChartTerminator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g274a7e3b98e_2_0"/>
          <p:cNvPicPr preferRelativeResize="0"/>
          <p:nvPr/>
        </p:nvPicPr>
        <p:blipFill rotWithShape="1">
          <a:blip r:embed="rId5">
            <a:alphaModFix/>
          </a:blip>
          <a:srcRect b="25322" l="0" r="0" t="0"/>
          <a:stretch/>
        </p:blipFill>
        <p:spPr>
          <a:xfrm>
            <a:off x="5303863" y="2105663"/>
            <a:ext cx="1584276" cy="117916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274a7e3b98e_2_0"/>
          <p:cNvSpPr txBox="1"/>
          <p:nvPr>
            <p:ph idx="1" type="body"/>
          </p:nvPr>
        </p:nvSpPr>
        <p:spPr>
          <a:xfrm>
            <a:off x="910461" y="3562575"/>
            <a:ext cx="2353800" cy="232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MY" sz="1700">
                <a:solidFill>
                  <a:schemeClr val="dk2"/>
                </a:solidFill>
              </a:rPr>
              <a:t> Massive Data Sources</a:t>
            </a:r>
            <a:endParaRPr b="1" sz="1700">
              <a:solidFill>
                <a:schemeClr val="dk2"/>
              </a:solidFill>
            </a:endParaRPr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MY" sz="1700">
                <a:solidFill>
                  <a:schemeClr val="dk2"/>
                </a:solidFill>
              </a:rPr>
              <a:t>Choose the appropriate data source in order to ensure the data validity </a:t>
            </a:r>
            <a:endParaRPr/>
          </a:p>
        </p:txBody>
      </p:sp>
      <p:sp>
        <p:nvSpPr>
          <p:cNvPr id="223" name="Google Shape;223;g274a7e3b98e_2_0"/>
          <p:cNvSpPr txBox="1"/>
          <p:nvPr>
            <p:ph idx="1" type="body"/>
          </p:nvPr>
        </p:nvSpPr>
        <p:spPr>
          <a:xfrm>
            <a:off x="4919111" y="3562575"/>
            <a:ext cx="2353800" cy="232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MY" sz="1700">
                <a:solidFill>
                  <a:schemeClr val="dk2"/>
                </a:solidFill>
              </a:rPr>
              <a:t> Integrity of Data Source</a:t>
            </a:r>
            <a:endParaRPr b="1" sz="1700">
              <a:solidFill>
                <a:schemeClr val="dk2"/>
              </a:solidFill>
            </a:endParaRPr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MY" sz="1700">
                <a:solidFill>
                  <a:schemeClr val="dk2"/>
                </a:solidFill>
              </a:rPr>
              <a:t>The collected data source </a:t>
            </a:r>
            <a:r>
              <a:rPr lang="en-MY" sz="1700">
                <a:solidFill>
                  <a:schemeClr val="dk2"/>
                </a:solidFill>
              </a:rPr>
              <a:t>have a missing value and data issue, which may affect the result of output</a:t>
            </a:r>
            <a:endParaRPr/>
          </a:p>
        </p:txBody>
      </p:sp>
      <p:sp>
        <p:nvSpPr>
          <p:cNvPr id="224" name="Google Shape;224;g274a7e3b98e_2_0"/>
          <p:cNvSpPr txBox="1"/>
          <p:nvPr>
            <p:ph idx="1" type="body"/>
          </p:nvPr>
        </p:nvSpPr>
        <p:spPr>
          <a:xfrm>
            <a:off x="8927761" y="3562575"/>
            <a:ext cx="2353800" cy="232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MY" sz="1700">
                <a:solidFill>
                  <a:schemeClr val="dk2"/>
                </a:solidFill>
              </a:rPr>
              <a:t> External Factor</a:t>
            </a:r>
            <a:endParaRPr b="1" sz="1700">
              <a:solidFill>
                <a:schemeClr val="dk2"/>
              </a:solidFill>
            </a:endParaRPr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MY" sz="1700">
                <a:solidFill>
                  <a:schemeClr val="dk2"/>
                </a:solidFill>
              </a:rPr>
              <a:t>E</a:t>
            </a:r>
            <a:r>
              <a:rPr lang="en-MY" sz="1700">
                <a:solidFill>
                  <a:schemeClr val="dk2"/>
                </a:solidFill>
              </a:rPr>
              <a:t>nvironment and climate changing constantly may affect the accuracy of analytical result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2024-06-25T06:00:07Z</dcterms:created>
  <dc:creator>LAM ZI FOONG</dc:creator>
</cp:coreProperties>
</file>